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Buenos dias. Soy Ivan Hernandez, presento mi TFM 'Simulador web de escenarios de movilidad urbana mediante tecnicas de IA', dirigido por Jose Angel Martin Baos.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INTRODUCCION (1:15). Movilidad en transformacion; ZBE obligatorias (Ley 7/2021). Decisiones caras y dificiles de revertir. En el fondo construimos un GEMELO DIGITAL del comportamiento de los viajeros: una replica sobre la que ensayar politicas y anticipar el reparto modal antes de aplicarlas.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(1:00). General: prototipo que integra ML y enrutado para analizar el impacto de politicas en el reparto modal. Cuatro objetivos en cajitas.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PORTADILLA (5 s). Situamos los antecedentes.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 + ENRUTADO (1:15). OSM (viaria) y GTFS (transporte publico). Dos motores: OSRM (viario, rapido) y OTP (multimodal). Salida: variables de viaje que alimentan al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ELECCION MODAL (1:15). Utilidad aleatoria U=V+eps; se elige la mayor. OJO: los decisores SI son racionales; lo que hay son VARIABLES LATENTES no observables (coche viejo, sin cochera, mala experiencia). El ML estima mejor esas probabilidades.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PORTADILLA (5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METODOLOGIA (1:05). Scrum unipersonal: tutor PO, yo SM+Dev. 14 sprints dic-jul. En el Gantt, el SOLAPAMIENTO infra/IA (avance en paralelo).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PORTADILLA (5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(1:25). El frontend NUNCA habla directo con OSRM/OTP; todo pasa por FastAPI (4 routers). React+Leaflet. Docker Compose. Recorrido de una consulta: O/D -&gt; backend pide rutas -&gt; deriva variables -&gt; modelo -&gt; probabilidades. Dedicarle un pelin 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PORTADILLA (5 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OSRM (1:00). Local, 3 perfiles (coche/bici/pie), cada uno en su contenedor, /api/osrm. Las tres rutas del mismo O/D sobre el mapa.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OTP (1:00). OpenTripPlanner sobre el GTFS de Toledo, /api/otp. Itinerarios puerta a puerta combinando tramos a pie y bus, con horarios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GTFS (1:00, +20s de detalle). Cruce de ficheros por claves: lineas de una parada = stops-&gt;stop_times-&gt;trips-&gt;routes (stop_id, trip_id, route_id); horario en fecha = + filtro calendar_dates por service_id. Alimenta el panel de red, /api/gtfs.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LPMC DATOS (1:15). Dataset LPMC. Variables de RUTA (OSRM/OTP) + SOCIODEMOGRAFICAS. GroupKFold por hogar (evita fuga de datos). Bug corregido: segundos -&gt; horas. ANIMACION: que los bloques del flujo (dataset -&gt; features -&gt; validacion -&gt; modelo) vayan apareciendo conforme hablas.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LPMC RESULTADOS (1:15). Tres modelos: XGBoost, RF, DNN. XGBoost es el MEJOR (por defecto). Accuracy/GMPCA no altisimos y es ESPERABLE: variables latentes + el ML extrapola mal fuera del dominio. No es que el modelo sea malo: parte de la decision no es observable. (Di la cifra exacta de tu tabla.)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AJUSTES EXPERTOS (0:55). Penalizacion PT walk-only (mu+5sigma); recargo coche en trayectos cortos; limitacion fuera de rango (OOD). Diferencia de un simple .fit().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INTERFAZ (0:20). Rail lateral: Rutas, Red, Prediccion IA, Ajustes, sobre el mapa. Rapido y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(4:00). Steve Jobs: ensayado, parece improvisado. Rutas (0:40) rapido - peaton atraviesa zonas. Bus (0:30) que se vea. INFERENCIA (2:00) plato fuerte: Commuter con y SIN coche; luego Estudiante. Capas/ajustes (0:30): cambia el mapa 20 s y cierra. NADA de fechas. docker compose up caliente + video de respaldo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CONCLUSIONES (1:00). Objetivos cumplidos, prototipo end-to-end. Un gemelo digital para anticipar el efecto de una politica antes de aplicarla.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TRABAJO FUTURO (1:00). CO2; mas ciudades; calibracion con datos locales (LPMC es de Londres); despliegue en la nube.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Gracias, quedo a su disposicion.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DUPLICADA. De fondo durante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(oculta): Reserva · Pipeline LPMC en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(oculta): Reserva · Cruce de ficheros GTFS.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(oculta): Reserva · Arquitectura de la DNN.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(oculta): Reserva · Metricas por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RESERVA (oculta): Reserva · Documentacion OpenAPI.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B3D91"/>
                </a:solidFill>
              </a:rPr>
              <a:t>Simulador web de escenarios de movilidad urbana</a:t>
            </a:r>
            <a:br/>
            <a:r>
              <a:t>mediante tecnicas de Inteligencia Artificial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5F6368"/>
                </a:solidFill>
              </a:rPr>
              <a:t>Ivan V. Hernandez Garcia de Mora   ·   Tutor: Jose Angel Martin Baos</a:t>
            </a:r>
            <a:br/>
            <a:r>
              <a:t>Master en Ingenieria Informatica  ·  UCLM  · 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</a:t>
            </a:r>
          </a:p>
        </p:txBody>
      </p:sp>
      <p:pic>
        <p:nvPicPr>
          <p:cNvPr id="3" name="Picture 2" descr="atasco_m3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5F6368"/>
                </a:solidFill>
              </a:rPr>
              <a:t>Prototipo de simulador web que integra ML y enrutado para analizar el impacto de las politicas en el reparto modal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5212080" cy="17373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1  </a:t>
            </a:r>
            <a:r>
              <a:rPr sz="1800">
                <a:solidFill>
                  <a:srgbClr val="202124"/>
                </a:solidFill>
              </a:rPr>
              <a:t>Modelos de eleccion modal (ML)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286000"/>
            <a:ext cx="5212080" cy="17373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2  </a:t>
            </a:r>
            <a:r>
              <a:rPr sz="1800">
                <a:solidFill>
                  <a:srgbClr val="202124"/>
                </a:solidFill>
              </a:rPr>
              <a:t>Enrutado OSRM y OTP (tiempos y costes reales)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97680"/>
            <a:ext cx="5212080" cy="17373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3  </a:t>
            </a:r>
            <a:r>
              <a:rPr sz="1800">
                <a:solidFill>
                  <a:srgbClr val="202124"/>
                </a:solidFill>
              </a:rPr>
              <a:t>App web interactiva sobre el mapa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297680"/>
            <a:ext cx="5212080" cy="17373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4  </a:t>
            </a:r>
            <a:r>
              <a:rPr sz="1800">
                <a:solidFill>
                  <a:srgbClr val="202124"/>
                </a:solidFill>
              </a:rPr>
              <a:t>Escenarios what-if (coste coche, tarifa bus...)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B3D91"/>
                </a:solidFill>
              </a:rPr>
              <a:t>Estado del arte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Datos abiertos y enrutado</a:t>
            </a:r>
          </a:p>
        </p:txBody>
      </p:sp>
      <p:pic>
        <p:nvPicPr>
          <p:cNvPr id="4" name="Picture 3" descr="diag_datos_enru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714" y="1371600"/>
            <a:ext cx="9412267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Eleccion modal</a:t>
            </a:r>
          </a:p>
        </p:txBody>
      </p:sp>
      <p:pic>
        <p:nvPicPr>
          <p:cNvPr id="4" name="Picture 3" descr="diag_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08" y="1371600"/>
            <a:ext cx="9687078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B3D91"/>
                </a:solidFill>
              </a:rPr>
              <a:t>Metodologia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Scrum unipersonal</a:t>
            </a:r>
          </a:p>
        </p:txBody>
      </p:sp>
      <p:pic>
        <p:nvPicPr>
          <p:cNvPr id="4" name="Picture 3" descr="sprints_timeline_p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359" y="1371600"/>
            <a:ext cx="415297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B3D91"/>
                </a:solidFill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6</a:t>
            </a:r>
          </a:p>
        </p:txBody>
      </p:sp>
      <p:pic>
        <p:nvPicPr>
          <p:cNvPr id="3" name="Picture 2" descr="ARQUITECTU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09" y="365760"/>
            <a:ext cx="1110087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0B3D91"/>
                </a:solidFill>
              </a:rPr>
              <a:t>Resultados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OSRM: rutas viarias multiperfil</a:t>
            </a:r>
          </a:p>
        </p:txBody>
      </p:sp>
      <p:pic>
        <p:nvPicPr>
          <p:cNvPr id="4" name="Picture 3" descr="RutasOS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372" y="1371600"/>
            <a:ext cx="729095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OTP: itinerarios multimodales</a:t>
            </a:r>
          </a:p>
        </p:txBody>
      </p:sp>
      <p:pic>
        <p:nvPicPr>
          <p:cNvPr id="4" name="Picture 3" descr="FRONTEND_GTF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78" y="1371600"/>
            <a:ext cx="102581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GTFS: cruce de ficheros</a:t>
            </a:r>
          </a:p>
        </p:txBody>
      </p:sp>
      <p:pic>
        <p:nvPicPr>
          <p:cNvPr id="4" name="Picture 3" descr="_borrador_gtfs_j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87" y="1371600"/>
            <a:ext cx="892652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Modelo LPMC: datos y entrenamiento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INSERTAR pipeline LPMC con bloques animados (features / GroupKFold)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Tres modelos de eleccion modal</a:t>
            </a:r>
          </a:p>
        </p:txBody>
      </p:sp>
      <p:pic>
        <p:nvPicPr>
          <p:cNvPr id="4" name="Picture 3" descr="_borrador_d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82936"/>
            <a:ext cx="5364327" cy="25894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78727" y="1463040"/>
            <a:ext cx="5364327" cy="502920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INSERTAR tabla de metricas (accuracy / GMPCA) por modelo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Conocimiento experto</a:t>
            </a:r>
          </a:p>
        </p:txBody>
      </p:sp>
      <p:pic>
        <p:nvPicPr>
          <p:cNvPr id="4" name="Picture 3" descr="diag_aju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714" y="1371600"/>
            <a:ext cx="9412267" cy="51206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La interfaz</a:t>
            </a:r>
          </a:p>
        </p:txBody>
      </p:sp>
      <p:pic>
        <p:nvPicPr>
          <p:cNvPr id="4" name="Picture 3" descr="FRONTEND_VistaGener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78" y="1371600"/>
            <a:ext cx="1025813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1A73E8"/>
                </a:solidFill>
              </a:rPr>
              <a:t>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682163" cy="2194560"/>
          </a:xfrm>
          <a:prstGeom prst="roundRect">
            <a:avLst/>
          </a:prstGeom>
          <a:solidFill>
            <a:srgbClr val="E6F4EA"/>
          </a:solidFill>
          <a:ln w="22225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Modelos ML
validados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9675" y="2377440"/>
            <a:ext cx="2682163" cy="2194560"/>
          </a:xfrm>
          <a:prstGeom prst="roundRect">
            <a:avLst/>
          </a:prstGeom>
          <a:solidFill>
            <a:srgbClr val="E6F4EA"/>
          </a:solidFill>
          <a:ln w="22225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Enrutado OSRM+OTP
(Toledo)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0710" y="2377440"/>
            <a:ext cx="2682163" cy="2194560"/>
          </a:xfrm>
          <a:prstGeom prst="roundRect">
            <a:avLst/>
          </a:prstGeom>
          <a:solidFill>
            <a:srgbClr val="E6F4EA"/>
          </a:solidFill>
          <a:ln w="22225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App web
interactiva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5" y="2377440"/>
            <a:ext cx="2682163" cy="2194560"/>
          </a:xfrm>
          <a:prstGeom prst="roundRect">
            <a:avLst/>
          </a:prstGeom>
          <a:solidFill>
            <a:srgbClr val="E6F4EA"/>
          </a:solidFill>
          <a:ln w="22225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Escenarios
what-if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368735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Trabajo futuro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2682163" cy="21945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Metricas de CO2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9675" y="2377440"/>
            <a:ext cx="2682163" cy="21945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Mas ciudades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0710" y="2377440"/>
            <a:ext cx="2682163" cy="21945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Calibracion
datos locales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1745" y="2377440"/>
            <a:ext cx="2682163" cy="219456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A73E8"/>
                </a:solidFill>
              </a:rPr>
              <a:t>  </a:t>
            </a:r>
            <a:r>
              <a:rPr sz="1800">
                <a:solidFill>
                  <a:srgbClr val="202124"/>
                </a:solidFill>
              </a:rPr>
              <a:t>Despliegue
en la nube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729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0B3D91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5F6368"/>
                </a:solidFill>
              </a:rPr>
              <a:t>github.com/ivanuclm/movilidad-urbana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B3D91"/>
                </a:solidFill>
              </a:rPr>
              <a:t>Simulador web de escenarios de movilidad urbana</a:t>
            </a:r>
            <a:br/>
            <a:r>
              <a:t>mediante tecnicas de Inteligencia Artificial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Reserva · Pipeline LPMC en detalle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Pipeline LPMC / features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Reserva · Cruce de ficheros GTFS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Cruce GTFS detalle 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Reserva · Arquitectura de la DNN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DNN (torchview)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Reserva · Metricas por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94415" cy="5120640"/>
          </a:xfrm>
          <a:prstGeom prst="rect">
            <a:avLst/>
          </a:prstGeom>
          <a:noFill/>
          <a:ln w="19050">
            <a:solidFill>
              <a:srgbClr val="5F636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>
                <a:solidFill>
                  <a:srgbClr val="5F6368"/>
                </a:solidFill>
              </a:rPr>
              <a:t>[ Tabla train/test 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3D91"/>
                </a:solidFill>
              </a:rPr>
              <a:t>Reserva · Documentacion OpenAPI</a:t>
            </a:r>
          </a:p>
        </p:txBody>
      </p:sp>
      <p:pic>
        <p:nvPicPr>
          <p:cNvPr id="3" name="Picture 2" descr="FastAPI_Docs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593" y="1371600"/>
            <a:ext cx="3832508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